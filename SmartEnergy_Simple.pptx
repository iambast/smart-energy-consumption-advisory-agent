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3A5C"/>
                </a:solidFill>
                <a:latin typeface="Arial"/>
              </a:rPr>
              <a:t>Feature Groups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Lag
Features</c:v>
                  </c:pt>
                  <c:pt idx="1">
                    <c:v>Temp
&amp; RH</c:v>
                  </c:pt>
                  <c:pt idx="2">
                    <c:v>Cyclic
Time</c:v>
                  </c:pt>
                  <c:pt idx="3">
                    <c:v>Tariff
Flags</c:v>
                  </c:pt>
                  <c:pt idx="4">
                    <c:v>Rolling
Stats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3A5C"/>
                </a:solidFill>
                <a:latin typeface="Arial"/>
              </a:rPr>
              <a:t>RMSE Comparison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(kWh)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LSTM</c:v>
                  </c:pt>
                  <c:pt idx="1">
                    <c:v>XGBoost</c:v>
                  </c:pt>
                  <c:pt idx="2">
                    <c:v>Rnd Forest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0.048</c:v>
                </c:pt>
                <c:pt idx="1">
                  <c:v>0.053</c:v>
                </c:pt>
                <c:pt idx="2">
                  <c:v>0.057</c:v>
                </c:pt>
                <c:pt idx="3">
                  <c:v>0.043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3A5C"/>
                </a:solidFill>
                <a:latin typeface="Arial"/>
              </a:rPr>
              <a:t>Actual vs Predicted — kWh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B3A5C"/>
            </a:solidFill>
            <a:ln w="31750" cap="flat">
              <a:solidFill>
                <a:srgbClr val="1B3A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3A5C"/>
              </a:solidFill>
              <a:ln w="9525" cap="flat">
                <a:solidFill>
                  <a:srgbClr val="1B3A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0.18</c:v>
                </c:pt>
                <c:pt idx="1">
                  <c:v>0.24</c:v>
                </c:pt>
                <c:pt idx="2">
                  <c:v>0.39</c:v>
                </c:pt>
                <c:pt idx="3">
                  <c:v>0.51</c:v>
                </c:pt>
                <c:pt idx="4">
                  <c:v>0.43</c:v>
                </c:pt>
                <c:pt idx="5">
                  <c:v>0.36</c:v>
                </c:pt>
                <c:pt idx="6">
                  <c:v>0.29</c:v>
                </c:pt>
                <c:pt idx="7">
                  <c:v>0.21</c:v>
                </c:pt>
                <c:pt idx="8">
                  <c:v>0.18</c:v>
                </c:pt>
                <c:pt idx="9">
                  <c:v>0.32</c:v>
                </c:pt>
                <c:pt idx="10">
                  <c:v>0.48</c:v>
                </c:pt>
                <c:pt idx="11">
                  <c:v>0.4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Ensemble Pred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  <c:pt idx="7">
                    <c:v>t8</c:v>
                  </c:pt>
                  <c:pt idx="8">
                    <c:v>t9</c:v>
                  </c:pt>
                  <c:pt idx="9">
                    <c:v>t10</c:v>
                  </c:pt>
                  <c:pt idx="10">
                    <c:v>t11</c:v>
                  </c:pt>
                  <c:pt idx="11">
                    <c:v>t12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0.175</c:v>
                </c:pt>
                <c:pt idx="1">
                  <c:v>0.252</c:v>
                </c:pt>
                <c:pt idx="2">
                  <c:v>0.374</c:v>
                </c:pt>
                <c:pt idx="3">
                  <c:v>0.498</c:v>
                </c:pt>
                <c:pt idx="4">
                  <c:v>0.441</c:v>
                </c:pt>
                <c:pt idx="5">
                  <c:v>0.35</c:v>
                </c:pt>
                <c:pt idx="6">
                  <c:v>0.302</c:v>
                </c:pt>
                <c:pt idx="7">
                  <c:v>0.22</c:v>
                </c:pt>
                <c:pt idx="8">
                  <c:v>0.172</c:v>
                </c:pt>
                <c:pt idx="9">
                  <c:v>0.335</c:v>
                </c:pt>
                <c:pt idx="10">
                  <c:v>0.462</c:v>
                </c:pt>
                <c:pt idx="11">
                  <c:v>0.415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3A5C"/>
                </a:solidFill>
                <a:latin typeface="Arial"/>
              </a:rPr>
              <a:t>Feature Importance (XGBoost SHAP)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Importance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948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Lag-1</c:v>
                  </c:pt>
                  <c:pt idx="1">
                    <c:v>Hour (sin)</c:v>
                  </c:pt>
                  <c:pt idx="2">
                    <c:v>Temperature</c:v>
                  </c:pt>
                  <c:pt idx="3">
                    <c:v>Lag-48</c:v>
                  </c:pt>
                  <c:pt idx="4">
                    <c:v>Rolling Mean</c:v>
                  </c:pt>
                  <c:pt idx="5">
                    <c:v>Hour (cos)</c:v>
                  </c:pt>
                  <c:pt idx="6">
                    <c:v>ACORN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0.31</c:v>
                </c:pt>
                <c:pt idx="1">
                  <c:v>0.18</c:v>
                </c:pt>
                <c:pt idx="2">
                  <c:v>0.12</c:v>
                </c:pt>
                <c:pt idx="3">
                  <c:v>0.1</c:v>
                </c:pt>
                <c:pt idx="4">
                  <c:v>0.09</c:v>
                </c:pt>
                <c:pt idx="5">
                  <c:v>0.06</c:v>
                </c:pt>
                <c:pt idx="6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948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Agent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32004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00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agent for real-time energy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personalized advisory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069080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069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Smart Meter (UCI/Kaggle)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234440"/>
            <a:ext cx="3566160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Aarush Jha          BTECH/10544/23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180136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Utkarsh Chitransh  BTECH/10676/23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368296"/>
            <a:ext cx="3566160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Aryan Ambast        BTECH/10708/23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935224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Purvansh Srivastava BTECH/10602/23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3502152"/>
            <a:ext cx="3566160" cy="47548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Shree Shivam        BTECH/10749/23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Project  |  2024–25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256032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energy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in India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2560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521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1664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household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78992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78992"/>
            <a:ext cx="25603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521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72200" y="1664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CO₂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14600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Advisory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7523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no actionable tips during peak consumption hours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2514600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7523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meter, weather &amp; occupancy data rarely integrated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6301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Predictive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941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alert after wastage; AI can prevent it upfront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520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3703320"/>
            <a:ext cx="457200" cy="4572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0" y="36301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AI 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3941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alerts miss anomalies &amp; behavioral patterns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65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Consumption Advisory Agent  |  Smart Meter Dataset (UCI/Kaggle)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778240" y="4965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 — Smart Meter (UCI/Kaggle)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192024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~2M+ readings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24128"/>
            <a:ext cx="192024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intervals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408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24128"/>
            <a:ext cx="192024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– 2014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408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024128"/>
            <a:ext cx="192024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key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1408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200400"/>
                <a:gridCol w="18288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Range / Example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energy (kWh/hh)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Half-hourly energy consumption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0 – 4.5 kWh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DateTime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DateTime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Timestamp at 30-min frequency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2011–2014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household_id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Unique consumer identifier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MAC_000002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tariff_type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Std / Economy7 / ToU tariff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Std / ToU / Eco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temperature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Feature 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Outdoor ambient temperature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–5 – 38 °C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ACORN group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Socio-economic cluster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A – Q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hour / 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Derived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Hour of reading (cyclic encoded)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3A5C"/>
                          </a:solidFill>
                        </a:rPr>
                        <a:t>0–23 / Mon–Sun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65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Consumption Advisory Agent  |  Smart Meter Dataset (UCI/Kaggle)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778240" y="4965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6128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0789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3533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for short gaps (&lt;3 periods)  ·  Rows with &gt;10% nulls dropped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85623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1305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filtering on energy(kWh/hh)  ·  Spikes beyond 3σ flagged as meter faults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157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3347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29077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Lag-1, Lag-2, Lag-48 features added  ·  Hour &amp; day encoded as sin/cos (cyclical)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55848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930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4107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Statistics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36850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24-period rolling mean &amp; std (12-hr window)  ·  Captures usage trend and volatility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133088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2702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18795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" y="44622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| 15% val | 15% test  ·  Strict chronological split — no leakage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1389888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14813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26480" y="1865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Records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543800" y="1389888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43800" y="14813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543800" y="1865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2304288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2395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126480" y="27797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43800" y="2304288"/>
            <a:ext cx="1280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43800" y="2395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543800" y="27797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85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6126480" y="3291840"/>
          <a:ext cx="27432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5" name="Shape 42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4320" y="4965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Consumption Advisory Agent  |  Smart Meter Dataset (UCI/Kaggle)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778240" y="4965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1371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624328"/>
            <a:ext cx="16459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5328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051560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051560"/>
            <a:ext cx="1554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1664208"/>
            <a:ext cx="1371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encoding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2624328"/>
            <a:ext cx="16459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328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051560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051560"/>
            <a:ext cx="155448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1664208"/>
            <a:ext cx="1371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2624328"/>
            <a:ext cx="16459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25328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1051560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051560"/>
            <a:ext cx="155448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1664208"/>
            <a:ext cx="1371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40%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40%  RF 20%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40880" y="2624328"/>
            <a:ext cx="16459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25328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1051560"/>
            <a:ext cx="1554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051560"/>
            <a:ext cx="15544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1664208"/>
            <a:ext cx="1371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Forecast (kWh)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Peak alert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Appliance tips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1168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4904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2376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65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Consumption Advisory Agent  |  Smart Meter Dataset (UCI/Kaggle)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778240" y="4965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20116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 kWh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72768" y="14630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0.034 kWh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2768" y="17647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2768" y="20665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102412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024128"/>
            <a:ext cx="201168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78608" y="1435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 kWh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67328" y="14630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78608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0.038 kWh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67328" y="17647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78608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67328" y="20665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02412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24128"/>
            <a:ext cx="2011680" cy="3657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 Forest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1435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0.057 kWh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61888" y="14630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 kWh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61888" y="17647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61888" y="20665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0" y="1024128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1024128"/>
            <a:ext cx="201168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67728" y="1435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 kWh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56448" y="14630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67728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 kWh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56448" y="17647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67728" y="2039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56448" y="20665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85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274320" y="2542032"/>
          <a:ext cx="4160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3" name="Chart 1" descr=""/>
          <p:cNvGraphicFramePr/>
          <p:nvPr/>
        </p:nvGraphicFramePr>
        <p:xfrm>
          <a:off x="4663440" y="2542032"/>
          <a:ext cx="4251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Text 40"/>
          <p:cNvSpPr/>
          <p:nvPr/>
        </p:nvSpPr>
        <p:spPr>
          <a:xfrm>
            <a:off x="274320" y="482803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Ensemble achieves lowest RMSE (0.043 kWh) — 10% gain over best single model  |  R² = 0.92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74320" y="4965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Consumption Advisory Agent  |  Smart Meter Dataset (UCI/Kaggle)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778240" y="4965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24128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303520" y="1024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03520" y="141732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7667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79008" y="149047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matters most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79008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(most recent reading) is the strongest predictor — appliance usage has strong inertia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03520" y="2304288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76672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79008" y="237744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is key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79008" y="26426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(7–9am) &amp; evening (6–9pm) peaks dominate — prime window for advisory alerts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303520" y="3191256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76672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❄️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79008" y="326440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drives HVAC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79008" y="35295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temp &lt; 10°C causes ~45% spike in load; directly actionable for users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03520" y="4078224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376672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79008" y="415137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near zero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79008" y="4416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bias in predictions; isolated spikes linked to unmodeled events (holidays)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965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Consumption Advisory Agent  |  Smart Meter Dataset (UCI/Kaggle)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778240" y="49651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&amp;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2057400"/>
          </a:xfrm>
          <a:prstGeom prst="rect">
            <a:avLst/>
          </a:prstGeom>
          <a:solidFill>
            <a:srgbClr val="162D4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974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Environmental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~15–20% energy reduction/home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~0.9 tonne CO₂ saved/year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Supports India net-zero 2070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97480" cy="2057400"/>
          </a:xfrm>
          <a:prstGeom prst="rect">
            <a:avLst/>
          </a:prstGeom>
          <a:solidFill>
            <a:srgbClr val="162D4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 Economic (INR)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444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₹2,700–₹3,600 savings/year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Grid demand → lower tariffs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3957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Scales to commercial units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97480" cy="2057400"/>
          </a:xfrm>
          <a:prstGeom prst="rect">
            <a:avLst/>
          </a:prstGeom>
          <a:solidFill>
            <a:srgbClr val="162D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  Social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444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tips for low-income homes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Supports PM Ujjwala goals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3957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Promotes behavioral change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493008"/>
            <a:ext cx="4251960" cy="438912"/>
          </a:xfrm>
          <a:prstGeom prst="rect">
            <a:avLst/>
          </a:prstGeom>
          <a:solidFill>
            <a:srgbClr val="162D47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493008"/>
            <a:ext cx="4114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(R²=0.92, RMSE=0.043 kWh) outperforms all single-model baselines on Smart Meter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3493008"/>
            <a:ext cx="4251960" cy="438912"/>
          </a:xfrm>
          <a:prstGeom prst="rect">
            <a:avLst/>
          </a:prstGeom>
          <a:solidFill>
            <a:srgbClr val="162D47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493008"/>
            <a:ext cx="4114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time features are the most actionable signals — directly power the real-time advisory engine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4251960" cy="438912"/>
          </a:xfrm>
          <a:prstGeom prst="rect">
            <a:avLst/>
          </a:prstGeom>
          <a:solidFill>
            <a:srgbClr val="162D47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023360"/>
            <a:ext cx="4114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layer flags tariff overcharges, meter faults &amp; unusual usage spikes in real-time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4023360"/>
            <a:ext cx="4251960" cy="438912"/>
          </a:xfrm>
          <a:prstGeom prst="rect">
            <a:avLst/>
          </a:prstGeom>
          <a:solidFill>
            <a:srgbClr val="162D47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4023360"/>
            <a:ext cx="4114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RL agent for dynamic appliance scheduling + DISCOMS demand-response integration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Live Demo: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4592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https://your-demo-link.streamlit.app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77824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Consumption Advisory Agent</dc:title>
  <dc:subject>PptxGenJS Presentation</dc:subject>
  <dc:creator>PptxGenJS</dc:creator>
  <cp:lastModifiedBy>PptxGenJS</cp:lastModifiedBy>
  <cp:revision>1</cp:revision>
  <dcterms:created xsi:type="dcterms:W3CDTF">2026-04-03T11:09:31Z</dcterms:created>
  <dcterms:modified xsi:type="dcterms:W3CDTF">2026-04-03T11:09:31Z</dcterms:modified>
</cp:coreProperties>
</file>